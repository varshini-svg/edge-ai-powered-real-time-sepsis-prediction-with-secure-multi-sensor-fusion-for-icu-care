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8" r:id="rId8"/>
    <p:sldId id="261" r:id="rId9"/>
    <p:sldId id="269" r:id="rId10"/>
    <p:sldId id="270" r:id="rId11"/>
    <p:sldId id="263" r:id="rId12"/>
    <p:sldId id="267" r:id="rId13"/>
    <p:sldId id="271" r:id="rId14"/>
    <p:sldId id="272" r:id="rId15"/>
    <p:sldId id="273" r:id="rId16"/>
    <p:sldId id="264" r:id="rId17"/>
  </p:sldIdLst>
  <p:sldSz cx="10287000" cy="5384800"/>
  <p:notesSz cx="6858000" cy="9144000"/>
  <p:embeddedFontLs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League Spartan" panose="020B0604020202020204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old" panose="00000800000000000000" pitchFamily="2" charset="0"/>
      <p:regular r:id="rId25"/>
      <p:bold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9F8D9-9C0F-A391-7C30-D3B4CFC62607}" v="26" dt="2025-12-29T10:08:54.108"/>
    <p1510:client id="{38D4B460-26A6-D4BE-F655-9B21BF60B6A6}" v="39" dt="2025-12-29T10:04:14.849"/>
    <p1510:client id="{4880786E-9618-9E06-D413-FB9D66006CCC}" v="131" dt="2025-12-29T09:58:42.308"/>
    <p1510:client id="{52029547-126C-62EE-BFD9-833D381EC459}" v="398" dt="2025-12-29T10:36:45.602"/>
    <p1510:client id="{53577B51-BF43-DA46-4DED-D52ACBC73991}" v="22" dt="2025-12-29T10:37:12.319"/>
    <p1510:client id="{84B6CA3D-FE40-27E0-2BB9-57A493652279}" v="59" dt="2025-12-29T10:23:07.107"/>
    <p1510:client id="{8B5172C1-8066-5AB4-608D-96F34085968E}" v="351" dt="2025-12-29T15:01:53.078"/>
    <p1510:client id="{DC4A990C-A31E-EB00-F64B-ECB95B4D8B6F}" v="669" dt="2025-12-30T14:19:31.593"/>
    <p1510:client id="{E27DD5DA-ADB8-A11A-2F82-C461CC04BFC3}" v="289" dt="2025-12-30T14:47:23.658"/>
    <p1510:client id="{E3725F9C-821A-C91F-2C1E-EFF11EF46C74}" v="177" dt="2025-12-30T15:25:2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lab.research.google.com/drive/162yEW-i_V1PJNOUFn2NLEagaA5obQ9n0?usp=sharing" TargetMode="External"/><Relationship Id="rId5" Type="http://schemas.openxmlformats.org/officeDocument/2006/relationships/hyperlink" Target="https://wokwi.com/projects/451660277721056257" TargetMode="External"/><Relationship Id="rId4" Type="http://schemas.openxmlformats.org/officeDocument/2006/relationships/hyperlink" Target="http://Githttps:/github.com/varshini-svg/Edge-AI-Powered-Real-Time-Sepsis-Prediction-with-Secure-Multi-Sensor-Fusion-for-ICU-Care.gi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27473"/>
            <a:ext cx="10287000" cy="463677"/>
            <a:chOff x="0" y="0"/>
            <a:chExt cx="5169753" cy="233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233022"/>
            </a:xfrm>
            <a:custGeom>
              <a:avLst/>
              <a:gdLst/>
              <a:ahLst/>
              <a:cxnLst/>
              <a:rect l="l" t="t" r="r" b="b"/>
              <a:pathLst>
                <a:path w="5169753" h="233022">
                  <a:moveTo>
                    <a:pt x="0" y="0"/>
                  </a:moveTo>
                  <a:lnTo>
                    <a:pt x="5169753" y="0"/>
                  </a:lnTo>
                  <a:lnTo>
                    <a:pt x="5169753" y="233022"/>
                  </a:lnTo>
                  <a:lnTo>
                    <a:pt x="0" y="2330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5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0" cy="2539588"/>
            <a:chOff x="0" y="0"/>
            <a:chExt cx="5169753" cy="1276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1276275"/>
            </a:xfrm>
            <a:custGeom>
              <a:avLst/>
              <a:gdLst/>
              <a:ahLst/>
              <a:cxnLst/>
              <a:rect l="l" t="t" r="r" b="b"/>
              <a:pathLst>
                <a:path w="5169753" h="1276275">
                  <a:moveTo>
                    <a:pt x="0" y="0"/>
                  </a:moveTo>
                  <a:lnTo>
                    <a:pt x="5169753" y="0"/>
                  </a:lnTo>
                  <a:lnTo>
                    <a:pt x="5169753" y="1276275"/>
                  </a:lnTo>
                  <a:lnTo>
                    <a:pt x="0" y="12762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1295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00468" y="200532"/>
            <a:ext cx="956040" cy="343825"/>
            <a:chOff x="0" y="0"/>
            <a:chExt cx="1274720" cy="458433"/>
          </a:xfrm>
        </p:grpSpPr>
        <p:sp>
          <p:nvSpPr>
            <p:cNvPr id="9" name="Freeform 9"/>
            <p:cNvSpPr/>
            <p:nvPr/>
          </p:nvSpPr>
          <p:spPr>
            <a:xfrm>
              <a:off x="375415" y="26673"/>
              <a:ext cx="899305" cy="431760"/>
            </a:xfrm>
            <a:custGeom>
              <a:avLst/>
              <a:gdLst/>
              <a:ahLst/>
              <a:cxnLst/>
              <a:rect l="l" t="t" r="r" b="b"/>
              <a:pathLst>
                <a:path w="899305" h="431760">
                  <a:moveTo>
                    <a:pt x="0" y="0"/>
                  </a:moveTo>
                  <a:lnTo>
                    <a:pt x="899305" y="0"/>
                  </a:lnTo>
                  <a:lnTo>
                    <a:pt x="899305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91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85934" cy="431760"/>
            </a:xfrm>
            <a:custGeom>
              <a:avLst/>
              <a:gdLst/>
              <a:ahLst/>
              <a:cxnLst/>
              <a:rect l="l" t="t" r="r" b="b"/>
              <a:pathLst>
                <a:path w="385934" h="431760">
                  <a:moveTo>
                    <a:pt x="0" y="0"/>
                  </a:moveTo>
                  <a:lnTo>
                    <a:pt x="385934" y="0"/>
                  </a:lnTo>
                  <a:lnTo>
                    <a:pt x="385934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33020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05679" y="196940"/>
            <a:ext cx="1550158" cy="351008"/>
          </a:xfrm>
          <a:custGeom>
            <a:avLst/>
            <a:gdLst/>
            <a:ahLst/>
            <a:cxnLst/>
            <a:rect l="l" t="t" r="r" b="b"/>
            <a:pathLst>
              <a:path w="1550158" h="351008">
                <a:moveTo>
                  <a:pt x="0" y="0"/>
                </a:moveTo>
                <a:lnTo>
                  <a:pt x="1550158" y="0"/>
                </a:lnTo>
                <a:lnTo>
                  <a:pt x="1550158" y="351008"/>
                </a:lnTo>
                <a:lnTo>
                  <a:pt x="0" y="35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203" b="-3555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80076" y="139934"/>
            <a:ext cx="721155" cy="471903"/>
          </a:xfrm>
          <a:custGeom>
            <a:avLst/>
            <a:gdLst/>
            <a:ahLst/>
            <a:cxnLst/>
            <a:rect l="l" t="t" r="r" b="b"/>
            <a:pathLst>
              <a:path w="721155" h="471903">
                <a:moveTo>
                  <a:pt x="0" y="0"/>
                </a:moveTo>
                <a:lnTo>
                  <a:pt x="721155" y="0"/>
                </a:lnTo>
                <a:lnTo>
                  <a:pt x="721155" y="471903"/>
                </a:lnTo>
                <a:lnTo>
                  <a:pt x="0" y="47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81" b="-3433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031651" y="243629"/>
            <a:ext cx="1117453" cy="285865"/>
          </a:xfrm>
          <a:custGeom>
            <a:avLst/>
            <a:gdLst/>
            <a:ahLst/>
            <a:cxnLst/>
            <a:rect l="l" t="t" r="r" b="b"/>
            <a:pathLst>
              <a:path w="1117453" h="285865">
                <a:moveTo>
                  <a:pt x="0" y="0"/>
                </a:moveTo>
                <a:lnTo>
                  <a:pt x="1117453" y="0"/>
                </a:lnTo>
                <a:lnTo>
                  <a:pt x="1117453" y="285865"/>
                </a:lnTo>
                <a:lnTo>
                  <a:pt x="0" y="28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385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43143" y="203822"/>
            <a:ext cx="1101202" cy="344126"/>
          </a:xfrm>
          <a:custGeom>
            <a:avLst/>
            <a:gdLst/>
            <a:ahLst/>
            <a:cxnLst/>
            <a:rect l="l" t="t" r="r" b="b"/>
            <a:pathLst>
              <a:path w="1101202" h="344126">
                <a:moveTo>
                  <a:pt x="0" y="0"/>
                </a:moveTo>
                <a:lnTo>
                  <a:pt x="1101202" y="0"/>
                </a:lnTo>
                <a:lnTo>
                  <a:pt x="1101202" y="344126"/>
                </a:lnTo>
                <a:lnTo>
                  <a:pt x="0" y="3441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5736410" y="210678"/>
            <a:ext cx="1356360" cy="289549"/>
            <a:chOff x="0" y="0"/>
            <a:chExt cx="1808480" cy="386065"/>
          </a:xfrm>
        </p:grpSpPr>
        <p:sp>
          <p:nvSpPr>
            <p:cNvPr id="16" name="Freeform 16"/>
            <p:cNvSpPr/>
            <p:nvPr/>
          </p:nvSpPr>
          <p:spPr>
            <a:xfrm>
              <a:off x="1371321" y="0"/>
              <a:ext cx="437159" cy="386065"/>
            </a:xfrm>
            <a:custGeom>
              <a:avLst/>
              <a:gdLst/>
              <a:ahLst/>
              <a:cxnLst/>
              <a:rect l="l" t="t" r="r" b="b"/>
              <a:pathLst>
                <a:path w="437159" h="386065">
                  <a:moveTo>
                    <a:pt x="0" y="0"/>
                  </a:moveTo>
                  <a:lnTo>
                    <a:pt x="437159" y="0"/>
                  </a:lnTo>
                  <a:lnTo>
                    <a:pt x="437159" y="386065"/>
                  </a:lnTo>
                  <a:lnTo>
                    <a:pt x="0" y="38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043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111175"/>
              <a:ext cx="1400755" cy="168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099"/>
                </a:lnSpc>
                <a:spcBef>
                  <a:spcPct val="0"/>
                </a:spcBef>
              </a:pPr>
              <a:r>
                <a:rPr lang="en-US" sz="78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IETE Student Forum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941" y="276210"/>
              <a:ext cx="1227269" cy="10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07"/>
                </a:lnSpc>
                <a:spcBef>
                  <a:spcPct val="0"/>
                </a:spcBef>
              </a:pPr>
              <a:r>
                <a:rPr lang="en-US" sz="433">
                  <a:solidFill>
                    <a:srgbClr val="FF914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Amrita Vishwa Vidyapeetham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35177" y="834078"/>
            <a:ext cx="1671851" cy="1671851"/>
          </a:xfrm>
          <a:custGeom>
            <a:avLst/>
            <a:gdLst/>
            <a:ahLst/>
            <a:cxnLst/>
            <a:rect l="l" t="t" r="r" b="b"/>
            <a:pathLst>
              <a:path w="1671851" h="1671851">
                <a:moveTo>
                  <a:pt x="0" y="0"/>
                </a:moveTo>
                <a:lnTo>
                  <a:pt x="1671851" y="0"/>
                </a:lnTo>
                <a:lnTo>
                  <a:pt x="1671851" y="1671851"/>
                </a:lnTo>
                <a:lnTo>
                  <a:pt x="0" y="16718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996179" y="834078"/>
            <a:ext cx="4418411" cy="1548871"/>
          </a:xfrm>
          <a:custGeom>
            <a:avLst/>
            <a:gdLst/>
            <a:ahLst/>
            <a:cxnLst/>
            <a:rect l="l" t="t" r="r" b="b"/>
            <a:pathLst>
              <a:path w="4418411" h="1548871">
                <a:moveTo>
                  <a:pt x="0" y="0"/>
                </a:moveTo>
                <a:lnTo>
                  <a:pt x="4418411" y="0"/>
                </a:lnTo>
                <a:lnTo>
                  <a:pt x="4418411" y="1548870"/>
                </a:lnTo>
                <a:lnTo>
                  <a:pt x="0" y="1548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6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39115" y="3490309"/>
            <a:ext cx="6855411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8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Leader Name : Varshini G S</a:t>
            </a:r>
            <a:endParaRPr lang="en-US" sz="214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39115" y="3016074"/>
            <a:ext cx="6414995" cy="355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8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 </a:t>
            </a:r>
            <a:r>
              <a:rPr lang="en-US" sz="210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NeuroEdge</a:t>
            </a:r>
            <a:endParaRPr lang="en-US" sz="2148" err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9115" y="3964103"/>
            <a:ext cx="7496475" cy="7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8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 : </a:t>
            </a:r>
            <a:r>
              <a:rPr lang="en-US" err="1">
                <a:solidFill>
                  <a:srgbClr val="FFFFFF"/>
                </a:solidFill>
                <a:latin typeface="Roboto"/>
                <a:ea typeface="Roboto"/>
                <a:cs typeface="Roboto"/>
                <a:sym typeface="Montserrat"/>
              </a:rPr>
              <a:t>AIoT</a:t>
            </a:r>
            <a:r>
              <a:rPr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Montserrat"/>
              </a:rPr>
              <a:t> (AI at the Edge)</a:t>
            </a:r>
            <a:endParaRPr lang="en-US">
              <a:sym typeface="Montserrat"/>
            </a:endParaRPr>
          </a:p>
          <a:p>
            <a:pPr algn="l">
              <a:lnSpc>
                <a:spcPts val="3008"/>
              </a:lnSpc>
            </a:pPr>
            <a:endParaRPr lang="en-US" sz="210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E506F12-9C01-7635-B9BD-5C43BE7F0F57}"/>
              </a:ext>
            </a:extLst>
          </p:cNvPr>
          <p:cNvSpPr txBox="1"/>
          <p:nvPr/>
        </p:nvSpPr>
        <p:spPr>
          <a:xfrm>
            <a:off x="157487" y="738977"/>
            <a:ext cx="1000848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 dirty="0">
                <a:ea typeface="Calibri"/>
                <a:cs typeface="Calibri"/>
              </a:rPr>
              <a:t>TITLE:</a:t>
            </a:r>
          </a:p>
          <a:p>
            <a:pPr algn="ctr"/>
            <a:r>
              <a:rPr lang="en-GB" b="1" dirty="0">
                <a:ea typeface="+mn-lt"/>
                <a:cs typeface="+mn-lt"/>
              </a:rPr>
              <a:t>Edge-AI Enabled Real-Time Sepsis Prediction System for ICU Care</a:t>
            </a:r>
          </a:p>
          <a:p>
            <a:endParaRPr lang="en-GB" b="1" dirty="0">
              <a:ea typeface="Calibri"/>
              <a:cs typeface="Calibri"/>
            </a:endParaRPr>
          </a:p>
          <a:p>
            <a:r>
              <a:rPr lang="en-GB" b="1" dirty="0">
                <a:ea typeface="+mn-lt"/>
                <a:cs typeface="+mn-lt"/>
              </a:rPr>
              <a:t>MOTIVE: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Sepsis is a life-threatening condition where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dirty="0">
                <a:ea typeface="+mn-lt"/>
                <a:cs typeface="+mn-lt"/>
              </a:rPr>
              <a:t>early detection within the first few hours is critical to reduce mortality.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Existing ICU monitoring systems rely on periodic checks, lab reports, and cloud-based analysis, causing delays and privacy risks.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Our solution uses Edge AI to continuously monitor vital signs like heart rate, SpO₂, temperature, blood pressure, and respiratory rate.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Machine learning models run locally at the bedside (edge devices) to predict sepsis risk in real time.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The system provides instant risk classification and alerts to clinicians through a secure dashboard, enabling faster and proactive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2738CBE-231E-F471-68F0-C2448DD4A7A8}"/>
              </a:ext>
            </a:extLst>
          </p:cNvPr>
          <p:cNvSpPr txBox="1"/>
          <p:nvPr/>
        </p:nvSpPr>
        <p:spPr>
          <a:xfrm>
            <a:off x="96915" y="726862"/>
            <a:ext cx="10079162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How is it different from existing ideas?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Traditional systems depend on cloud computation, leading to latency, bandwidth usage, and data privacy concerns.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Our approach performs on-device AI inference (Edge AI), ensuring Ultra-low latency, No continuous cloud dependency, Enhanced patient data security.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Unlike score-based methods (e.g., basic early warning scores), this system uses machine learning with multi-sensor fusion for higher accuracy.</a:t>
            </a:r>
            <a:r>
              <a:rPr lang="en-GB" dirty="0">
                <a:ea typeface="Calibri"/>
                <a:cs typeface="Calibri"/>
              </a:rPr>
              <a:t> </a:t>
            </a:r>
          </a:p>
          <a:p>
            <a:endParaRPr lang="en-GB" b="1" dirty="0">
              <a:ea typeface="Calibri"/>
              <a:cs typeface="Calibri"/>
            </a:endParaRPr>
          </a:p>
          <a:p>
            <a:r>
              <a:rPr lang="en-GB" b="1" dirty="0">
                <a:ea typeface="+mn-lt"/>
                <a:cs typeface="+mn-lt"/>
              </a:rPr>
              <a:t>How will it solve the problem?</a:t>
            </a:r>
            <a:r>
              <a:rPr lang="en-GB" b="1" dirty="0">
                <a:ea typeface="Calibri"/>
                <a:cs typeface="Calibri"/>
              </a:rPr>
              <a:t>   </a:t>
            </a:r>
            <a:r>
              <a:rPr lang="en-GB" dirty="0">
                <a:ea typeface="Calibri"/>
                <a:cs typeface="Calibri"/>
              </a:rPr>
              <a:t>                  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Continuously collects patient vital signs using wireless sensors.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Processes data locally using trained ML models to calculate sepsis risk in real time.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Automatically classifies patients into Low, Medium, or High risk categories.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Generates instant alerts and visual trends for ICU staff, reducing diagnostic delay.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Works even in resource-limited or network-restricted environments.</a:t>
            </a:r>
            <a:endParaRPr lang="en-GB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6CADB-EFEA-4EC2-67EA-C57FE930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3F9799-2DB7-6E0E-0457-262448F37FDE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5D084D2-7737-9578-494D-96624C11A297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BDC4A3-A615-2276-08CF-D13FF9663EA8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891C9D9-BB6E-D86C-701F-2886618F0DFF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DD26EAD-C9EE-4DC8-8459-EFD8961EEA8E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93CFD9D-28B3-6290-C936-A42A53B5072C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93126E6-713D-E9D2-ED46-32F63320D562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24FA1C6-78CE-EE46-E4C7-73804F0867C6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1A4537F-42C0-91C8-2741-5CD12F1E8681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83B42C-890C-8400-636F-EA89F89E7C0D}"/>
              </a:ext>
            </a:extLst>
          </p:cNvPr>
          <p:cNvSpPr txBox="1"/>
          <p:nvPr/>
        </p:nvSpPr>
        <p:spPr>
          <a:xfrm>
            <a:off x="96915" y="726862"/>
            <a:ext cx="9108383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ea typeface="+mn-lt"/>
                <a:cs typeface="+mn-lt"/>
              </a:rPr>
              <a:t>Unique Selling Proposition of the Solution</a:t>
            </a:r>
            <a:endParaRPr lang="en-US" b="1"/>
          </a:p>
          <a:p>
            <a:endParaRPr lang="en-GB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Real-time edge inference (&lt;50 </a:t>
            </a:r>
            <a:r>
              <a:rPr lang="en-GB" b="1" dirty="0" err="1">
                <a:ea typeface="+mn-lt"/>
                <a:cs typeface="+mn-lt"/>
              </a:rPr>
              <a:t>ms</a:t>
            </a:r>
            <a:r>
              <a:rPr lang="en-GB" b="1" dirty="0">
                <a:ea typeface="+mn-lt"/>
                <a:cs typeface="+mn-lt"/>
              </a:rPr>
              <a:t> latency)</a:t>
            </a:r>
            <a:r>
              <a:rPr lang="en-GB" dirty="0">
                <a:ea typeface="+mn-lt"/>
                <a:cs typeface="+mn-lt"/>
              </a:rPr>
              <a:t> enabling instant clinical alerts without cloud delay.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Privacy-preserving design</a:t>
            </a:r>
            <a:r>
              <a:rPr lang="en-GB">
                <a:ea typeface="+mn-lt"/>
                <a:cs typeface="+mn-lt"/>
              </a:rPr>
              <a:t>, ensuring no raw patient data leaves the bedside device.</a:t>
            </a:r>
            <a:endParaRPr lang="en-GB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Secure wireless multi-sensor fusion</a:t>
            </a:r>
            <a:r>
              <a:rPr lang="en-GB">
                <a:ea typeface="+mn-lt"/>
                <a:cs typeface="+mn-lt"/>
              </a:rPr>
              <a:t> for reliable and tamper-resistant vital sign monitoring.</a:t>
            </a:r>
            <a:endParaRPr lang="en-GB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AI-driven early prediction</a:t>
            </a:r>
            <a:r>
              <a:rPr lang="en-GB">
                <a:ea typeface="+mn-lt"/>
                <a:cs typeface="+mn-lt"/>
              </a:rPr>
              <a:t>, moving beyond static rule-based scoring to proactive risk assessment.</a:t>
            </a:r>
            <a:endParaRPr lang="en-GB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Scalable for urban hospitals</a:t>
            </a:r>
            <a:r>
              <a:rPr lang="en-GB" dirty="0">
                <a:ea typeface="+mn-lt"/>
                <a:cs typeface="+mn-lt"/>
              </a:rPr>
              <a:t>, optimized for high-density ICU deployments.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Fail-safe edge operation</a:t>
            </a:r>
            <a:r>
              <a:rPr lang="en-GB" dirty="0">
                <a:ea typeface="+mn-lt"/>
                <a:cs typeface="+mn-lt"/>
              </a:rPr>
              <a:t>, maintaining sepsis detection even during network or cloud outages.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Seamless integration with existing ICU workflows</a:t>
            </a:r>
            <a:r>
              <a:rPr lang="en-GB">
                <a:ea typeface="+mn-lt"/>
                <a:cs typeface="+mn-lt"/>
              </a:rPr>
              <a:t>, requiring minimal infrastructure changes and low deployment cost.</a:t>
            </a:r>
            <a:endParaRPr lang="en-GB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471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39115" y="973283"/>
            <a:ext cx="5633124" cy="531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Garet"/>
                <a:cs typeface="Garet"/>
                <a:sym typeface="Garet"/>
              </a:rPr>
              <a:t>LIST OF FEATURES OFFERED BY THE SOLUTION</a:t>
            </a:r>
            <a:endParaRPr lang="en-US" b="1">
              <a:solidFill>
                <a:srgbClr val="000000"/>
              </a:solidFill>
              <a:latin typeface="Arial"/>
              <a:ea typeface="Garet"/>
              <a:cs typeface="Garet"/>
            </a:endParaRP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Edge – AI based sepsis prediction (no cloud delay)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Multi sensor data fusion for higher accuracy 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Instant risk scoring &amp; alert generation 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Privacy – preserving encrypted communication 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Low-Latency , offline – capable inference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Multi – patient monitoring dashboard 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Scalable &amp; cost effective deployment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Garet"/>
                <a:cs typeface="Garet"/>
              </a:rPr>
              <a:t>Clinician – friendly visual insights </a:t>
            </a: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endParaRPr lang="en-US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marL="285750" indent="-285750" algn="just">
              <a:lnSpc>
                <a:spcPts val="3203"/>
              </a:lnSpc>
              <a:buFont typeface="Arial"/>
              <a:buChar char="•"/>
            </a:pPr>
            <a:endParaRPr lang="en-US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algn="just">
              <a:lnSpc>
                <a:spcPts val="3203"/>
              </a:lnSpc>
            </a:pPr>
            <a:endParaRPr lang="en-US" sz="1200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algn="just">
              <a:lnSpc>
                <a:spcPts val="3203"/>
              </a:lnSpc>
            </a:pPr>
            <a:endParaRPr lang="en-US" sz="2250">
              <a:solidFill>
                <a:srgbClr val="000000"/>
              </a:solidFill>
              <a:latin typeface="Garet"/>
              <a:ea typeface="Garet"/>
              <a:cs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63574" y="2465461"/>
            <a:ext cx="3563435" cy="806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 flow diagram</a:t>
            </a:r>
            <a:endParaRPr lang="en-US" sz="2250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algn="just">
              <a:lnSpc>
                <a:spcPts val="3203"/>
              </a:lnSpc>
            </a:pPr>
            <a:endParaRPr lang="en-US" sz="228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12" name="Picture 11" descr="A diagram of a machine&#10;&#10;AI-generated content may be incorrect.">
            <a:extLst>
              <a:ext uri="{FF2B5EF4-FFF2-40B4-BE49-F238E27FC236}">
                <a16:creationId xmlns:a16="http://schemas.microsoft.com/office/drawing/2014/main" id="{BB754FC2-09A6-2C92-3F15-A4B3118A7D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00"/>
          <a:stretch>
            <a:fillRect/>
          </a:stretch>
        </p:blipFill>
        <p:spPr>
          <a:xfrm>
            <a:off x="4427933" y="819789"/>
            <a:ext cx="5523839" cy="3723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86B0-1882-B36A-14BE-313B53080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79D01F-F18C-129C-D8E8-AAD8B4EEEA73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15D4E1-D252-6D22-DDC1-31BC2AE87648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49B3AA-A0C4-CC40-E8BD-AF0084B919DA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9713BF0-987F-E357-9D65-B3276620A32B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42E7D5B-A8EA-C26D-745E-8DA049656436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439C51B-C23B-41D6-E14C-9F1CE144D1C6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57FCA56-BDAB-04DA-72C5-68A93FB0CD4D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66A396E-7FE1-B5A4-1C50-45355AEC8831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5FE72A-7B39-FC61-8FC9-1A759639C96C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77A9527-203F-D251-10C0-C119D7B7B081}"/>
              </a:ext>
            </a:extLst>
          </p:cNvPr>
          <p:cNvSpPr txBox="1"/>
          <p:nvPr/>
        </p:nvSpPr>
        <p:spPr>
          <a:xfrm>
            <a:off x="563574" y="2465461"/>
            <a:ext cx="3563435" cy="806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50" dirty="0">
                <a:solidFill>
                  <a:srgbClr val="000000"/>
                </a:solidFill>
                <a:latin typeface="Garet"/>
                <a:ea typeface="Garet"/>
                <a:cs typeface="Garet"/>
              </a:rPr>
              <a:t>Use Case </a:t>
            </a:r>
            <a:r>
              <a:rPr lang="en-US" sz="2250">
                <a:solidFill>
                  <a:srgbClr val="000000"/>
                </a:solidFill>
                <a:latin typeface="Garet"/>
                <a:ea typeface="Garet"/>
                <a:cs typeface="Garet"/>
              </a:rPr>
              <a:t>Diagram</a:t>
            </a:r>
            <a:endParaRPr lang="en-US" sz="2250" dirty="0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algn="just">
              <a:lnSpc>
                <a:spcPts val="3203"/>
              </a:lnSpc>
            </a:pPr>
            <a:endParaRPr lang="en-US" sz="228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15" name="Picture 14" descr="A diagram of a system&#10;&#10;AI-generated content may be incorrect.">
            <a:extLst>
              <a:ext uri="{FF2B5EF4-FFF2-40B4-BE49-F238E27FC236}">
                <a16:creationId xmlns:a16="http://schemas.microsoft.com/office/drawing/2014/main" id="{84429C90-5B3C-C840-78DF-6D7B92227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408" y="734120"/>
            <a:ext cx="6135285" cy="39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7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52F64C9D-4ED2-D3E1-A0B4-863B528B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2322"/>
            <a:ext cx="2665973" cy="571889"/>
          </a:xfrm>
        </p:spPr>
        <p:txBody>
          <a:bodyPr/>
          <a:lstStyle/>
          <a:p>
            <a:pPr algn="l"/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1800" dirty="0">
                <a:ea typeface="Calibri"/>
                <a:cs typeface="Calibri"/>
              </a:rPr>
              <a:t>  </a:t>
            </a:r>
            <a:r>
              <a:rPr lang="en-US" sz="1800" b="1">
                <a:ea typeface="Calibri"/>
                <a:cs typeface="Calibri"/>
              </a:rPr>
              <a:t>AI TECHNOLOGIES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0F2A5D-E8AB-6C69-9893-CE895CC4A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94653"/>
            <a:ext cx="4038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264410A-9228-3ACC-D01A-163F3FA5C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26" y="1600200"/>
            <a:ext cx="4993064" cy="28452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Machine Learning Model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Random Forest Classifier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Features Used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Body Temperature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Heart Rate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SpO₂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Respiration Rate</a:t>
            </a:r>
            <a:endParaRPr lang="en-US" sz="180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8D201-0971-FC68-C835-D51A1E5AABA3}"/>
              </a:ext>
            </a:extLst>
          </p:cNvPr>
          <p:cNvSpPr txBox="1"/>
          <p:nvPr/>
        </p:nvSpPr>
        <p:spPr>
          <a:xfrm>
            <a:off x="5149676" y="1599767"/>
            <a:ext cx="468666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b="1" baseline="0">
                <a:latin typeface="Calibri"/>
                <a:ea typeface="Arial"/>
                <a:cs typeface="Arial"/>
              </a:rPr>
              <a:t>Edge Inference</a:t>
            </a:r>
            <a:r>
              <a:rPr lang="en-US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baseline="0">
                <a:latin typeface="Calibri"/>
                <a:ea typeface="Arial"/>
                <a:cs typeface="Arial"/>
              </a:rPr>
              <a:t>Real-time prediction executed locally</a:t>
            </a:r>
            <a:r>
              <a:rPr lang="en-US">
                <a:latin typeface="Calibri"/>
                <a:ea typeface="Arial"/>
                <a:cs typeface="Arial"/>
              </a:rPr>
              <a:t>​</a:t>
            </a:r>
            <a:endParaRPr lang="en-US" dirty="0">
              <a:latin typeface="Calibri"/>
              <a:ea typeface="Arial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en-US" baseline="0" dirty="0">
                <a:latin typeface="Calibri"/>
                <a:ea typeface="Arial"/>
                <a:cs typeface="Arial"/>
              </a:rPr>
              <a:t>&lt;50 </a:t>
            </a:r>
            <a:r>
              <a:rPr lang="en-US" baseline="0" dirty="0" err="1">
                <a:latin typeface="Calibri"/>
                <a:ea typeface="Arial"/>
                <a:cs typeface="Arial"/>
              </a:rPr>
              <a:t>ms</a:t>
            </a:r>
            <a:r>
              <a:rPr lang="en-US" baseline="0" dirty="0">
                <a:latin typeface="Calibri"/>
                <a:ea typeface="Arial"/>
                <a:cs typeface="Arial"/>
              </a:rPr>
              <a:t> latency per inference</a:t>
            </a:r>
            <a:r>
              <a:rPr lang="en-US" dirty="0">
                <a:latin typeface="Calibri"/>
                <a:ea typeface="Arial"/>
                <a:cs typeface="Arial"/>
              </a:rPr>
              <a:t>​</a:t>
            </a:r>
          </a:p>
          <a:p>
            <a:endParaRPr lang="en-US" dirty="0">
              <a:latin typeface="Calibri"/>
              <a:ea typeface="Arial"/>
              <a:cs typeface="Arial"/>
            </a:endParaRPr>
          </a:p>
          <a:p>
            <a:pPr rtl="0"/>
            <a:r>
              <a:rPr lang="en-US" b="1" baseline="0">
                <a:latin typeface="Calibri"/>
                <a:ea typeface="Arial"/>
                <a:cs typeface="Arial"/>
              </a:rPr>
              <a:t>Model Training &amp; Validation</a:t>
            </a:r>
            <a:r>
              <a:rPr lang="en-US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baseline="0">
                <a:latin typeface="Calibri"/>
                <a:ea typeface="Arial"/>
                <a:cs typeface="Arial"/>
              </a:rPr>
              <a:t>Synthetic + simulated ICU data</a:t>
            </a:r>
            <a:r>
              <a:rPr lang="en-US">
                <a:latin typeface="Calibri"/>
                <a:ea typeface="Arial"/>
                <a:cs typeface="Arial"/>
              </a:rPr>
              <a:t>​</a:t>
            </a:r>
            <a:endParaRPr lang="en-US" dirty="0">
              <a:latin typeface="Calibri"/>
              <a:ea typeface="Arial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en-US" baseline="0" dirty="0" err="1">
                <a:latin typeface="Calibri"/>
                <a:ea typeface="Arial"/>
                <a:cs typeface="Arial"/>
              </a:rPr>
              <a:t>StandardScaler</a:t>
            </a:r>
            <a:r>
              <a:rPr lang="en-US" baseline="0" dirty="0">
                <a:latin typeface="Calibri"/>
                <a:ea typeface="Arial"/>
                <a:cs typeface="Arial"/>
              </a:rPr>
              <a:t>-based preprocessing</a:t>
            </a:r>
            <a:r>
              <a:rPr lang="en-US" dirty="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baseline="0">
                <a:latin typeface="Calibri"/>
                <a:ea typeface="Arial"/>
                <a:cs typeface="Arial"/>
              </a:rPr>
              <a:t>Accuracy, ROC-AUC, Confusion Matrix evaluation</a:t>
            </a:r>
            <a:r>
              <a:rPr lang="en-US"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B00D-58E8-47EA-987E-713123CA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D55B9F-FD12-1707-A95E-1ADB9A20B209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429D90-0DC5-9948-CCF9-43EE48FA7F35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250F09-E600-03B9-AA8F-1C6F6957251F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00BB906-1CD7-E04C-E5B0-5A315B5C6755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5089EEA-91E2-4B1C-131E-C7FEDF93D6D5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67E010A-BBFA-9003-BF34-6A752348D540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A475EE4-1158-7C89-36C1-FFCB02ED576E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7CEB089-38E8-3045-FAFD-9B3DE121AB69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6454CD-BF0C-5609-0086-86EDC2E9ADBA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98D5B769-E7A5-A49C-46D7-AF23997E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2322"/>
            <a:ext cx="4126221" cy="571889"/>
          </a:xfrm>
        </p:spPr>
        <p:txBody>
          <a:bodyPr>
            <a:noAutofit/>
          </a:bodyPr>
          <a:lstStyle/>
          <a:p>
            <a:pPr algn="l"/>
            <a:r>
              <a:rPr lang="en-US" sz="1800" b="1">
                <a:ea typeface="Calibri"/>
                <a:cs typeface="Calibri"/>
              </a:rPr>
              <a:t>HARDWARE REQUIREMENTS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91E0892-FB36-C9FD-F479-84393E2CF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94653"/>
            <a:ext cx="4038600" cy="4525963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9C8EFC-A7FA-DE0C-4C35-39EFB7D34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029" y="1257531"/>
            <a:ext cx="7807509" cy="360402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Edge Device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 dirty="0">
                <a:ea typeface="+mn-lt"/>
                <a:cs typeface="+mn-lt"/>
              </a:rPr>
              <a:t>ESP32 / Arduino Nano 33 BLE (</a:t>
            </a:r>
            <a:r>
              <a:rPr lang="en-US" sz="1800" dirty="0" err="1">
                <a:ea typeface="+mn-lt"/>
                <a:cs typeface="+mn-lt"/>
              </a:rPr>
              <a:t>Wokwi</a:t>
            </a:r>
            <a:r>
              <a:rPr lang="en-US" sz="1800" dirty="0">
                <a:ea typeface="+mn-lt"/>
                <a:cs typeface="+mn-lt"/>
              </a:rPr>
              <a:t> simulation)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Sensor Emulation (</a:t>
            </a:r>
            <a:r>
              <a:rPr lang="en-US" sz="1800" b="1" dirty="0" err="1">
                <a:ea typeface="+mn-lt"/>
                <a:cs typeface="+mn-lt"/>
              </a:rPr>
              <a:t>Wokwi</a:t>
            </a:r>
            <a:r>
              <a:rPr lang="en-US" sz="1800" b="1" dirty="0">
                <a:ea typeface="+mn-lt"/>
                <a:cs typeface="+mn-lt"/>
              </a:rPr>
              <a:t>)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>
                <a:ea typeface="+mn-lt"/>
                <a:cs typeface="+mn-lt"/>
              </a:rPr>
              <a:t>Potentiometer → Heart Rate / Blood Pressure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>
                <a:ea typeface="+mn-lt"/>
                <a:cs typeface="+mn-lt"/>
              </a:rPr>
              <a:t>Temperature Sensor → Body Temperature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>
                <a:ea typeface="+mn-lt"/>
                <a:cs typeface="+mn-lt"/>
              </a:rPr>
              <a:t>Potentiometer / Slider → SpO₂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>
                <a:ea typeface="+mn-lt"/>
                <a:cs typeface="+mn-lt"/>
              </a:rPr>
              <a:t>Digital / Analog Input → Respiration Rate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Connectivity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>
                <a:ea typeface="+mn-lt"/>
                <a:cs typeface="+mn-lt"/>
              </a:rPr>
              <a:t>Secure wireless interface (Wi-Fi / BLE – simulated)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Output Interface</a:t>
            </a:r>
            <a:endParaRPr lang="en-US" sz="1800">
              <a:ea typeface="Calibri"/>
              <a:cs typeface="Calibri"/>
            </a:endParaRPr>
          </a:p>
          <a:p>
            <a:pPr marL="1028700" lvl="1">
              <a:buFont typeface="Arial"/>
              <a:buChar char="–"/>
            </a:pPr>
            <a:r>
              <a:rPr lang="en-US" sz="1800">
                <a:ea typeface="+mn-lt"/>
                <a:cs typeface="+mn-lt"/>
              </a:rPr>
              <a:t>Serial Monitor / Virtual ICU Dashboard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638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540D9-D35C-162A-C3BE-12006313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11C8AF-3C77-6463-C901-EF94DF9C5CFF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6EF8A7-D799-66E9-F07A-AFAACDD58827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AF93185-75FC-6F09-6660-DF9E7B54BABA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62DDD19-41FB-CC8B-D019-F80D4D42DA1A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21DD9B4-FF88-0360-FAF4-75E2C2B9EE54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8F1B63E-BF9C-A10D-BF36-C4C00CA451CF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5CA212D-5F35-BE3E-3B3E-F2B06920A417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5486872-749B-F3A3-88BD-000781E1AFFB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75B5DFE-E1CF-AF98-3A67-42EDE46D35A1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F5D322E0-D574-891E-1C7B-44D80CF6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2322"/>
            <a:ext cx="4126221" cy="571889"/>
          </a:xfrm>
        </p:spPr>
        <p:txBody>
          <a:bodyPr>
            <a:noAutofit/>
          </a:bodyPr>
          <a:lstStyle/>
          <a:p>
            <a:pPr algn="l"/>
            <a:r>
              <a:rPr lang="en-US" sz="1800" b="1">
                <a:ea typeface="Calibri"/>
                <a:cs typeface="Calibri"/>
              </a:rPr>
              <a:t>SOFTWARE REQUIREMENTS</a:t>
            </a:r>
            <a:endParaRPr lang="en-US" sz="1800" b="1" dirty="0">
              <a:ea typeface="Calibri"/>
              <a:cs typeface="Calibri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CF1149C-8A82-F803-7741-FC34920FE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94653"/>
            <a:ext cx="4038600" cy="4525963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D177489-F47E-F605-2A07-1E6A21586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6128" y="1257531"/>
            <a:ext cx="7285410" cy="36040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Programming Languages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Python (AI, ML, backend, visualization)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Embedded C / Arduino (edge logic)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Frameworks &amp; Libraries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Scikit-learn, NumPy, Pandas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Flask (secure edge API)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Matplotlib (real-time visualization)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Simulation Tools</a:t>
            </a:r>
            <a:endParaRPr lang="en-US" sz="1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dirty="0" err="1">
                <a:ea typeface="+mn-lt"/>
                <a:cs typeface="+mn-lt"/>
              </a:rPr>
              <a:t>Wokwi</a:t>
            </a:r>
            <a:r>
              <a:rPr lang="en-US" sz="1800" dirty="0">
                <a:ea typeface="+mn-lt"/>
                <a:cs typeface="+mn-lt"/>
              </a:rPr>
              <a:t> (IoT simulation)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Google Colab / Local Python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048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45406" y="2493216"/>
            <a:ext cx="3246055" cy="3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3"/>
              </a:lnSpc>
            </a:pPr>
            <a:r>
              <a:rPr lang="en-US" sz="2250">
                <a:solidFill>
                  <a:srgbClr val="000000"/>
                </a:solidFill>
                <a:latin typeface="Garet"/>
                <a:ea typeface="Garet"/>
                <a:cs typeface="Garet"/>
              </a:rPr>
              <a:t>Architecture Diagram</a:t>
            </a:r>
            <a:endParaRPr lang="en-US" sz="2250" dirty="0">
              <a:solidFill>
                <a:srgbClr val="000000"/>
              </a:solidFill>
              <a:latin typeface="Garet"/>
              <a:ea typeface="Garet"/>
              <a:cs typeface="Garet"/>
            </a:endParaRPr>
          </a:p>
        </p:txBody>
      </p:sp>
      <p:pic>
        <p:nvPicPr>
          <p:cNvPr id="12" name="Picture 11" descr="A diagram of a medical system&#10;&#10;AI-generated content may be incorrect.">
            <a:extLst>
              <a:ext uri="{FF2B5EF4-FFF2-40B4-BE49-F238E27FC236}">
                <a16:creationId xmlns:a16="http://schemas.microsoft.com/office/drawing/2014/main" id="{91D8D3C8-D976-0419-B0EF-EC52B0D27B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83" t="3757" r="10032" b="5903"/>
          <a:stretch>
            <a:fillRect/>
          </a:stretch>
        </p:blipFill>
        <p:spPr>
          <a:xfrm>
            <a:off x="4703891" y="727461"/>
            <a:ext cx="5037775" cy="41223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48E3-D01B-A6BD-DD2B-BF8DD4BF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B202BD5-C20B-54A2-FD97-41894C55E520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33C067-34DF-A613-C1A7-B50B7C1D7CB1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CC56DAD-9A35-39D5-8F06-F7F9806033F8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9F236C2-48FB-A5EC-A249-D09D586672AE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58F02B-2187-D206-16F4-F2A4C21D5851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93895B4-4BF6-AEB2-3E55-AF4BDBE87664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9393020-3F5D-C967-5A50-0BCF333C9BD8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FAAE7B8-7043-053D-A0FF-EAD517D523BD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A6F4C3-A5F1-828F-74CB-DA77C4A3173F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AE00FC0-FCDB-FED6-92D1-3F647C43915C}"/>
              </a:ext>
            </a:extLst>
          </p:cNvPr>
          <p:cNvSpPr txBox="1"/>
          <p:nvPr/>
        </p:nvSpPr>
        <p:spPr>
          <a:xfrm>
            <a:off x="539115" y="973283"/>
            <a:ext cx="8301178" cy="3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50">
                <a:solidFill>
                  <a:srgbClr val="000000"/>
                </a:solidFill>
                <a:latin typeface="Garet"/>
                <a:ea typeface="Garet"/>
                <a:cs typeface="Garet"/>
              </a:rPr>
              <a:t>Results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8B9C725-7601-A267-A700-5AF8F63D285B}"/>
              </a:ext>
            </a:extLst>
          </p:cNvPr>
          <p:cNvSpPr txBox="1">
            <a:spLocks/>
          </p:cNvSpPr>
          <p:nvPr/>
        </p:nvSpPr>
        <p:spPr>
          <a:xfrm>
            <a:off x="457200" y="2099053"/>
            <a:ext cx="4079389" cy="16045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ea typeface="Calibri"/>
                <a:cs typeface="Calibri"/>
              </a:rPr>
              <a:t>      </a:t>
            </a:r>
            <a:r>
              <a:rPr lang="en-US" sz="1800" b="1" dirty="0">
                <a:ea typeface="+mn-lt"/>
                <a:cs typeface="+mn-lt"/>
              </a:rPr>
              <a:t>Random Forest Classifier achieved 99.95% prediction accuracy</a:t>
            </a:r>
            <a:r>
              <a:rPr lang="en-US" sz="1800" dirty="0">
                <a:ea typeface="+mn-lt"/>
                <a:cs typeface="+mn-lt"/>
              </a:rPr>
              <a:t>, demonstrating highly reliable early sepsis detection performance on simulated ICU data. 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15" name="Picture 14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2933157D-85F4-0618-2625-E700E82E1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997" y="742948"/>
            <a:ext cx="5078679" cy="40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85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72BF-7D93-4E1C-58A7-EB7572A2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73B66A-AEBF-4363-679C-D8C01FAB8D24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6A3BC2-7771-2DF0-A8E2-5584D6C79FFE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A129DA-A1E9-538D-3C4D-719079587709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4659A07-00C1-AD79-6816-4F0ADB61539D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47AA70F-EE97-6949-79EF-64605E6E36F8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6E728A4-9373-7D7E-C26C-23CD1D99DA65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A043E4A-4BD3-49E3-F5BF-8F0891585057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D1EF832-7AC0-6433-3403-2D99EFBB8895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1460DFF-9BC6-E637-6070-AC59A849DCA3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86E9E30-6F43-21FE-62E9-43975226CF61}"/>
              </a:ext>
            </a:extLst>
          </p:cNvPr>
          <p:cNvSpPr txBox="1">
            <a:spLocks/>
          </p:cNvSpPr>
          <p:nvPr/>
        </p:nvSpPr>
        <p:spPr>
          <a:xfrm>
            <a:off x="509609" y="875627"/>
            <a:ext cx="9052458" cy="975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err="1">
                <a:ea typeface="+mn-lt"/>
                <a:cs typeface="+mn-lt"/>
              </a:rPr>
              <a:t>Wokwi</a:t>
            </a:r>
            <a:r>
              <a:rPr lang="en-US" sz="1800" b="1" dirty="0">
                <a:ea typeface="+mn-lt"/>
                <a:cs typeface="+mn-lt"/>
              </a:rPr>
              <a:t>-based edge simulation executed successfully</a:t>
            </a:r>
            <a:r>
              <a:rPr lang="en-US" sz="1800" dirty="0">
                <a:ea typeface="+mn-lt"/>
                <a:cs typeface="+mn-lt"/>
              </a:rPr>
              <a:t>, validating real-time multi-sensor data acquisition, and sepsis risk visualization under 3 </a:t>
            </a:r>
            <a:r>
              <a:rPr lang="en-US" sz="1800" dirty="0" err="1">
                <a:ea typeface="+mn-lt"/>
                <a:cs typeface="+mn-lt"/>
              </a:rPr>
              <a:t>differen</a:t>
            </a:r>
            <a:r>
              <a:rPr lang="en-US" sz="1800" dirty="0">
                <a:ea typeface="+mn-lt"/>
                <a:cs typeface="+mn-lt"/>
              </a:rPr>
              <a:t>t conditions Low, Moderate and High based on the risk score 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D3FE5B0-4286-1E6C-4AD3-C3905B310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879323"/>
              </p:ext>
            </p:extLst>
          </p:nvPr>
        </p:nvGraphicFramePr>
        <p:xfrm>
          <a:off x="3268766" y="2010558"/>
          <a:ext cx="2755502" cy="16462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7751">
                  <a:extLst>
                    <a:ext uri="{9D8B030D-6E8A-4147-A177-3AD203B41FA5}">
                      <a16:colId xmlns:a16="http://schemas.microsoft.com/office/drawing/2014/main" val="2357759194"/>
                    </a:ext>
                  </a:extLst>
                </a:gridCol>
                <a:gridCol w="1377751">
                  <a:extLst>
                    <a:ext uri="{9D8B030D-6E8A-4147-A177-3AD203B41FA5}">
                      <a16:colId xmlns:a16="http://schemas.microsoft.com/office/drawing/2014/main" val="1776615409"/>
                    </a:ext>
                  </a:extLst>
                </a:gridCol>
              </a:tblGrid>
              <a:tr h="41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Score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Risk Level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09068"/>
                  </a:ext>
                </a:extLst>
              </a:tr>
              <a:tr h="41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0–1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LOW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672600"/>
                  </a:ext>
                </a:extLst>
              </a:tr>
              <a:tr h="41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2–3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MODERATE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20823"/>
                  </a:ext>
                </a:extLst>
              </a:tr>
              <a:tr h="41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≥4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5244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8AB3316-D865-D86F-9850-5894AFD3A8FB}"/>
              </a:ext>
            </a:extLst>
          </p:cNvPr>
          <p:cNvSpPr txBox="1"/>
          <p:nvPr/>
        </p:nvSpPr>
        <p:spPr>
          <a:xfrm>
            <a:off x="179727" y="2037148"/>
            <a:ext cx="298471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F2328"/>
                </a:solidFill>
                <a:latin typeface="-apple-system"/>
                <a:ea typeface="-apple-system"/>
                <a:cs typeface="-apple-system"/>
              </a:rPr>
              <a:t>Risk Scoring Criteria</a:t>
            </a:r>
          </a:p>
          <a:p>
            <a:pPr>
              <a:buFont typeface=""/>
              <a:buChar char="•"/>
            </a:pPr>
            <a:r>
              <a:rPr lang="en-US">
                <a:solidFill>
                  <a:srgbClr val="1F2328"/>
                </a:solidFill>
                <a:latin typeface="-apple-system"/>
                <a:ea typeface="-apple-system"/>
                <a:cs typeface="-apple-system"/>
              </a:rPr>
              <a:t>Temperature &gt; 38°C → +1</a:t>
            </a:r>
          </a:p>
          <a:p>
            <a:pPr>
              <a:buFont typeface=""/>
              <a:buChar char="•"/>
            </a:pPr>
            <a:r>
              <a:rPr lang="en-US">
                <a:solidFill>
                  <a:srgbClr val="1F2328"/>
                </a:solidFill>
                <a:latin typeface="-apple-system"/>
                <a:ea typeface="-apple-system"/>
                <a:cs typeface="-apple-system"/>
              </a:rPr>
              <a:t>Heart Rate &gt; 100 bpm → +1</a:t>
            </a:r>
          </a:p>
          <a:p>
            <a:pPr>
              <a:buFont typeface=""/>
              <a:buChar char="•"/>
            </a:pPr>
            <a:r>
              <a:rPr lang="en-US">
                <a:solidFill>
                  <a:srgbClr val="1F2328"/>
                </a:solidFill>
                <a:latin typeface="-apple-system"/>
                <a:ea typeface="-apple-system"/>
                <a:cs typeface="-apple-system"/>
              </a:rPr>
              <a:t>SpO₂ &lt; 92% → +1</a:t>
            </a:r>
          </a:p>
          <a:p>
            <a:pPr>
              <a:buFont typeface=""/>
              <a:buChar char="•"/>
            </a:pPr>
            <a:r>
              <a:rPr lang="en-US">
                <a:solidFill>
                  <a:srgbClr val="1F2328"/>
                </a:solidFill>
                <a:latin typeface="-apple-system"/>
                <a:ea typeface="-apple-system"/>
                <a:cs typeface="-apple-system"/>
              </a:rPr>
              <a:t>Resp Rate &gt; 22 / min → +1</a:t>
            </a:r>
          </a:p>
          <a:p>
            <a:endParaRPr lang="en-US" b="1" dirty="0">
              <a:solidFill>
                <a:srgbClr val="1F2328"/>
              </a:solidFill>
              <a:latin typeface="-apple-system"/>
              <a:ea typeface="-apple-system"/>
              <a:cs typeface="-apple-system"/>
            </a:endParaRPr>
          </a:p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1831B67-4913-7EC5-F7D4-28324DD7E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065868"/>
              </p:ext>
            </p:extLst>
          </p:nvPr>
        </p:nvGraphicFramePr>
        <p:xfrm>
          <a:off x="6161716" y="2036633"/>
          <a:ext cx="3962286" cy="16320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0762">
                  <a:extLst>
                    <a:ext uri="{9D8B030D-6E8A-4147-A177-3AD203B41FA5}">
                      <a16:colId xmlns:a16="http://schemas.microsoft.com/office/drawing/2014/main" val="779803666"/>
                    </a:ext>
                  </a:extLst>
                </a:gridCol>
                <a:gridCol w="1320762">
                  <a:extLst>
                    <a:ext uri="{9D8B030D-6E8A-4147-A177-3AD203B41FA5}">
                      <a16:colId xmlns:a16="http://schemas.microsoft.com/office/drawing/2014/main" val="1272023955"/>
                    </a:ext>
                  </a:extLst>
                </a:gridCol>
                <a:gridCol w="1320762">
                  <a:extLst>
                    <a:ext uri="{9D8B030D-6E8A-4147-A177-3AD203B41FA5}">
                      <a16:colId xmlns:a16="http://schemas.microsoft.com/office/drawing/2014/main" val="4271391353"/>
                    </a:ext>
                  </a:extLst>
                </a:gridCol>
              </a:tblGrid>
              <a:tr h="427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Risk Level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LED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Buzzer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1232"/>
                  </a:ext>
                </a:extLst>
              </a:tr>
              <a:tr h="36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LOW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OFF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OFF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23553"/>
                  </a:ext>
                </a:extLst>
              </a:tr>
              <a:tr h="427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MODERATE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Yellow ON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OFF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718275"/>
                  </a:ext>
                </a:extLst>
              </a:tr>
              <a:tr h="36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Red ON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ON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49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393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689DB-A13C-8C2F-86DB-0EB1ED1B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8FF6AF-BAF1-A4CD-4544-E8D909BDA1BE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E8F2602-24E0-0B54-D1B2-9F62922B63E6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F2AB994-33B0-3AFE-B1E1-D0CFD8FE6FF0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C19C765-2A26-AF89-CE73-4284BF51349D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670B4B3-D48A-BA5E-850A-345C04553ED9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DCAEC9F-BA27-B8F5-3AC8-6CD690F4F5CA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64588E7-F064-126F-6E0E-5C80045B2E55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70828C6-387C-DDF9-5467-7EF75943434D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B31B5A5-A147-0C92-3BE1-46DB17B81CFC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0E923F0-D224-C99C-5FF8-4B22664355A3}"/>
              </a:ext>
            </a:extLst>
          </p:cNvPr>
          <p:cNvSpPr txBox="1">
            <a:spLocks/>
          </p:cNvSpPr>
          <p:nvPr/>
        </p:nvSpPr>
        <p:spPr>
          <a:xfrm>
            <a:off x="509609" y="875627"/>
            <a:ext cx="9052458" cy="975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ea typeface="Calibri"/>
                <a:cs typeface="Calibri"/>
              </a:rPr>
              <a:t>Low Risk                                                       Moderate Risk                                               High Risk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453B9A-13BD-3A77-C915-854DF5511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3" y="1356578"/>
            <a:ext cx="3274970" cy="3534082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BF0AB1-DC8B-F47E-50DD-91B4E4D31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2672" y="1343761"/>
            <a:ext cx="3141350" cy="353151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43CDAC-BC7F-E816-E3CB-D64956407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274" y="1343766"/>
            <a:ext cx="3168185" cy="35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6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55EC-9695-0572-EEB9-6E4951B0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B3BF69-FC52-A825-C94C-969016E8BF19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411579-24D0-EE1E-D296-D45001CD5E39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2A899E-09C6-1878-AFC1-B3924A88E60F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04FADE3-B5F3-A1E5-790E-F4343742BBDA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F54EC06-EF67-BC2B-028F-47C84C5909C9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D408686-65A6-9562-79C1-C85163F487E0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0D93218-F98B-4A47-93BF-A08DD4C74D1E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DDA72B5-6D65-8D6F-6603-6E2F21CD543E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F50F1CD-E881-870A-B7C5-1D03AE3EAD01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A96C58F-E9CB-1AA9-31AF-18EF00919C15}"/>
              </a:ext>
            </a:extLst>
          </p:cNvPr>
          <p:cNvSpPr txBox="1"/>
          <p:nvPr/>
        </p:nvSpPr>
        <p:spPr>
          <a:xfrm>
            <a:off x="403269" y="955609"/>
            <a:ext cx="3246055" cy="3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3"/>
              </a:lnSpc>
            </a:pPr>
            <a:r>
              <a:rPr lang="en-US" sz="2250">
                <a:solidFill>
                  <a:srgbClr val="000000"/>
                </a:solidFill>
                <a:latin typeface="Garet"/>
                <a:ea typeface="Garet"/>
                <a:cs typeface="Garet"/>
              </a:rPr>
              <a:t>Links</a:t>
            </a:r>
            <a:endParaRPr lang="en-US" sz="2250" dirty="0">
              <a:solidFill>
                <a:srgbClr val="000000"/>
              </a:solidFill>
              <a:latin typeface="Garet"/>
              <a:ea typeface="Garet"/>
              <a:cs typeface="Gare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2361B-A361-CC3A-A478-7996B437AEEB}"/>
              </a:ext>
            </a:extLst>
          </p:cNvPr>
          <p:cNvSpPr txBox="1"/>
          <p:nvPr/>
        </p:nvSpPr>
        <p:spPr>
          <a:xfrm>
            <a:off x="579562" y="1521722"/>
            <a:ext cx="814132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Calibri"/>
                <a:cs typeface="Calibri"/>
              </a:rPr>
              <a:t>Github</a:t>
            </a:r>
            <a:r>
              <a:rPr lang="en-US" dirty="0">
                <a:ea typeface="Calibri"/>
                <a:cs typeface="Calibri"/>
              </a:rPr>
              <a:t> Link:</a:t>
            </a:r>
          </a:p>
          <a:p>
            <a:r>
              <a:rPr lang="en-US" dirty="0">
                <a:hlinkClick r:id="rId4"/>
              </a:rPr>
              <a:t>https://github.com/varshini-svg/Edge-AI-Powered-Real-Time-Sepsis-Prediction-with-Secure-Multi-Sensor-Fusion-for-ICU-Care.git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Wokwi</a:t>
            </a:r>
            <a:r>
              <a:rPr lang="en-US" dirty="0">
                <a:ea typeface="Calibri"/>
                <a:cs typeface="Calibri"/>
              </a:rPr>
              <a:t> Simulation Link: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https://wokwi.com/projects/451660277721056257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Google Colab Link: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  <a:hlinkClick r:id="rId6"/>
              </a:rPr>
              <a:t>https://colab.research.google.com/drive/162yEW-i_V1PJNOUFn2NLEagaA5obQ9n0?usp=sharing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1810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769124"/>
            <a:ext cx="10287000" cy="622026"/>
            <a:chOff x="0" y="0"/>
            <a:chExt cx="5169753" cy="312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312600"/>
            </a:xfrm>
            <a:custGeom>
              <a:avLst/>
              <a:gdLst/>
              <a:ahLst/>
              <a:cxnLst/>
              <a:rect l="l" t="t" r="r" b="b"/>
              <a:pathLst>
                <a:path w="5169753" h="312600">
                  <a:moveTo>
                    <a:pt x="0" y="0"/>
                  </a:moveTo>
                  <a:lnTo>
                    <a:pt x="5169753" y="0"/>
                  </a:lnTo>
                  <a:lnTo>
                    <a:pt x="5169753" y="312600"/>
                  </a:lnTo>
                  <a:lnTo>
                    <a:pt x="0" y="3126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33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7256" y="1886850"/>
            <a:ext cx="10039850" cy="114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7"/>
              </a:lnSpc>
            </a:pPr>
            <a:r>
              <a:rPr lang="en-US" sz="1152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24721" y="3259463"/>
            <a:ext cx="2837557" cy="64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50" err="1">
                <a:solidFill>
                  <a:srgbClr val="000000"/>
                </a:solidFill>
                <a:latin typeface="Garet"/>
                <a:ea typeface="Garet"/>
                <a:cs typeface="Garet"/>
              </a:rPr>
              <a:t>NeuroEdge</a:t>
            </a:r>
            <a:endParaRPr lang="en-US" sz="3679" err="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69991" y="3790445"/>
            <a:ext cx="1147018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sz="3050" b="1" err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AIoT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-14327"/>
            <a:ext cx="10287000" cy="1291577"/>
            <a:chOff x="0" y="0"/>
            <a:chExt cx="5169753" cy="6490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69753" cy="649085"/>
            </a:xfrm>
            <a:custGeom>
              <a:avLst/>
              <a:gdLst/>
              <a:ahLst/>
              <a:cxnLst/>
              <a:rect l="l" t="t" r="r" b="b"/>
              <a:pathLst>
                <a:path w="5169753" h="649085">
                  <a:moveTo>
                    <a:pt x="0" y="0"/>
                  </a:moveTo>
                  <a:lnTo>
                    <a:pt x="5169753" y="0"/>
                  </a:lnTo>
                  <a:lnTo>
                    <a:pt x="5169753" y="649085"/>
                  </a:lnTo>
                  <a:lnTo>
                    <a:pt x="0" y="649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169753" cy="668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42524" y="191852"/>
            <a:ext cx="3349313" cy="879220"/>
            <a:chOff x="0" y="0"/>
            <a:chExt cx="4465751" cy="11722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166" cy="1172293"/>
            </a:xfrm>
            <a:custGeom>
              <a:avLst/>
              <a:gdLst/>
              <a:ahLst/>
              <a:cxnLst/>
              <a:rect l="l" t="t" r="r" b="b"/>
              <a:pathLst>
                <a:path w="1072166" h="1172293">
                  <a:moveTo>
                    <a:pt x="0" y="0"/>
                  </a:moveTo>
                  <a:lnTo>
                    <a:pt x="1072166" y="0"/>
                  </a:lnTo>
                  <a:lnTo>
                    <a:pt x="1072166" y="1172293"/>
                  </a:lnTo>
                  <a:lnTo>
                    <a:pt x="0" y="1172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09333" y="0"/>
              <a:ext cx="3256418" cy="1146504"/>
            </a:xfrm>
            <a:custGeom>
              <a:avLst/>
              <a:gdLst/>
              <a:ahLst/>
              <a:cxnLst/>
              <a:rect l="l" t="t" r="r" b="b"/>
              <a:pathLst>
                <a:path w="3256418" h="1146504">
                  <a:moveTo>
                    <a:pt x="0" y="0"/>
                  </a:moveTo>
                  <a:lnTo>
                    <a:pt x="3256418" y="0"/>
                  </a:lnTo>
                  <a:lnTo>
                    <a:pt x="3256418" y="1146504"/>
                  </a:lnTo>
                  <a:lnTo>
                    <a:pt x="0" y="1146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  AI TECHNOLOGIES </vt:lpstr>
      <vt:lpstr>HARDWARE REQUIREMENTS</vt:lpstr>
      <vt:lpstr>SOFTWARE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AI-Verse PPT Template</dc:title>
  <cp:revision>428</cp:revision>
  <dcterms:created xsi:type="dcterms:W3CDTF">2006-08-16T00:00:00Z</dcterms:created>
  <dcterms:modified xsi:type="dcterms:W3CDTF">2025-12-30T15:25:34Z</dcterms:modified>
  <dc:identifier>DAG79ArSZVM</dc:identifier>
</cp:coreProperties>
</file>